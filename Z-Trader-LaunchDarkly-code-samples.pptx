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2e6e11-44e3-238e-6da6-ba39e4be18bd}">
          <p14:sldIdLst>
            <p14:sldId id="256"/>
            <p14:sldId id="257"/>
          </p14:sldIdLst>
        </p14:section>
        <p14:section name="Contexts and segments" id="{05f1df93-0a65-0bb0-cbb0-d39fcaf161ca}">
          <p14:sldIdLst>
            <p14:sldId id="258"/>
            <p14:sldId id="259"/>
          </p14:sldIdLst>
        </p14:section>
        <p14:section name="Dark mode" id="{0ba12207-3d86-fcae-ea12-8a907b9dc6cd}">
          <p14:sldIdLst>
            <p14:sldId id="260"/>
            <p14:sldId id="261"/>
            <p14:sldId id="262"/>
          </p14:sldIdLst>
        </p14:section>
        <p14:section name="Observability" id="{26987af0-02e3-0420-e1b3-417cdce4f577}">
          <p14:sldIdLst>
            <p14:sldId id="263"/>
            <p14:sldId id="264"/>
            <p14:sldId id="265"/>
          </p14:sldIdLst>
        </p14:section>
        <p14:section name="Experimentation" id="{662e0635-4a98-2a69-e92e-383822a1a407}">
          <p14:sldIdLst>
            <p14:sldId id="266"/>
          </p14:sldIdLst>
        </p14:section>
        <p14:section name="Close" id="{62fd45b6-2bb8-f4ca-2145-e3cef54b9df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code here is lifted verbatim from app/simulator.js, app/demo.html and launchdarkly/*.tf in the demo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the app stays deliberately dumb. Everything that changes during the demo is configuration,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os_version goes up as a raw string. The semantic-version comparison happens in LaunchDarkly,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semVerLessThan with negate = true is how you say "&gt;= 17.0.0". Worth calling out — people look for a greater-than operator and do not find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guarded rollout only ever lives on the active phase’s rule. That is what makes rollback per-city instead of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comparison. Do not dismiss the per-OS shape — it is where the demo tells the mobile failure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customer read this one. The right-hand column is not wrong, it is just work that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gotchas worth saying out loud: require the plugin before the SDK, and the browser packages are default exports.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join that usually does not exist: the flag value is a first-class attribute on the telemetry, not something you infer from a deploy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this is not a synthetic error payload. Open the error in Monitoring and show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no experiment SDK and no separate instrumentation. A variation call, a track call, and the segments are already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division of labour: the app reports reality, the platform makes the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 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212848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 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9326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2000"/>
              </a:lnSpc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Z-Trader  ·  LaunchDarkly demo  ·  code samples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Z-Trader  ·  LaunchDarkly demo  ·  code samples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Z-TRADER  ·  LAUNCHDARKLY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21284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The code behind the demo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Dark mode as one audience-based flag, and as a flag per OS version. Contexts and segments. How errors, logs, traces and sessions get out. How the experiments are wired.</a:t>
            </a:r>
            <a:endParaRPr lang="en-US" sz="1800" dirty="0"/>
          </a:p>
        </p:txBody>
      </p:sp>
      <p:sp>
        <p:nvSpPr>
          <p:cNvPr id="5" name="srcchip-0"/>
          <p:cNvSpPr/>
          <p:nvPr/>
        </p:nvSpPr>
        <p:spPr>
          <a:xfrm>
            <a:off x="822960" y="4892040"/>
            <a:ext cx="260604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srclbl-0"/>
          <p:cNvSpPr txBox="1"/>
          <p:nvPr/>
        </p:nvSpPr>
        <p:spPr>
          <a:xfrm>
            <a:off x="822960" y="48920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app/simulator.js</a:t>
            </a:r>
            <a:endParaRPr lang="en-US" sz="1300" dirty="0"/>
          </a:p>
        </p:txBody>
      </p:sp>
      <p:sp>
        <p:nvSpPr>
          <p:cNvPr id="7" name="srcchip-1"/>
          <p:cNvSpPr/>
          <p:nvPr/>
        </p:nvSpPr>
        <p:spPr>
          <a:xfrm>
            <a:off x="3657600" y="4892040"/>
            <a:ext cx="260604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8" name="srclbl-1"/>
          <p:cNvSpPr txBox="1"/>
          <p:nvPr/>
        </p:nvSpPr>
        <p:spPr>
          <a:xfrm>
            <a:off x="3657600" y="48920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app/demo.html</a:t>
            </a:r>
            <a:endParaRPr lang="en-US" sz="1300" dirty="0"/>
          </a:p>
        </p:txBody>
      </p:sp>
      <p:sp>
        <p:nvSpPr>
          <p:cNvPr id="9" name="srcchip-2"/>
          <p:cNvSpPr/>
          <p:nvPr/>
        </p:nvSpPr>
        <p:spPr>
          <a:xfrm>
            <a:off x="6492240" y="4892040"/>
            <a:ext cx="2606040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0" name="srclbl-2"/>
          <p:cNvSpPr txBox="1"/>
          <p:nvPr/>
        </p:nvSpPr>
        <p:spPr>
          <a:xfrm>
            <a:off x="6492240" y="48920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launchdarkly/*.tf</a:t>
            </a:r>
            <a:endParaRPr lang="en-US" sz="1300" dirty="0"/>
          </a:p>
        </p:txBody>
      </p:sp>
      <p:sp>
        <p:nvSpPr>
          <p:cNvPr id="11" name="note"/>
          <p:cNvSpPr txBox="1"/>
          <p:nvPr/>
        </p:nvSpPr>
        <p:spPr>
          <a:xfrm>
            <a:off x="82296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 snippet is copied from the running demo, not written for the slide.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app actually does</a:t>
            </a:r>
            <a:endParaRPr lang="en-US" sz="3200" dirty="0"/>
          </a:p>
        </p:txBody>
      </p:sp>
      <p:sp>
        <p:nvSpPr>
          <p:cNvPr id="3" name="dot-r0"/>
          <p:cNvSpPr/>
          <p:nvPr/>
        </p:nvSpPr>
        <p:spPr>
          <a:xfrm>
            <a:off x="640080" y="12984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dotlabel-r0"/>
          <p:cNvSpPr txBox="1"/>
          <p:nvPr/>
        </p:nvSpPr>
        <p:spPr>
          <a:xfrm>
            <a:off x="64008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head-r0"/>
          <p:cNvSpPr txBox="1"/>
          <p:nvPr/>
        </p:nvSpPr>
        <p:spPr>
          <a:xfrm>
            <a:off x="1261872" y="127101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context, two kinds</a:t>
            </a:r>
            <a:endParaRPr lang="en-US" sz="1700" dirty="0"/>
          </a:p>
        </p:txBody>
      </p:sp>
      <p:sp>
        <p:nvSpPr>
          <p:cNvPr id="6" name="body-r0"/>
          <p:cNvSpPr txBox="1"/>
          <p:nvPr/>
        </p:nvSpPr>
        <p:spPr>
          <a:xfrm>
            <a:off x="1261872" y="1618488"/>
            <a:ext cx="6144768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 trader and a device in every evaluation. Target either side.</a:t>
            </a:r>
            <a:endParaRPr lang="en-US" sz="1400" dirty="0"/>
          </a:p>
        </p:txBody>
      </p:sp>
      <p:sp>
        <p:nvSpPr>
          <p:cNvPr id="7" name="dot-r1"/>
          <p:cNvSpPr/>
          <p:nvPr/>
        </p:nvSpPr>
        <p:spPr>
          <a:xfrm>
            <a:off x="640080" y="2345599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dotlabel-r1"/>
          <p:cNvSpPr txBox="1"/>
          <p:nvPr/>
        </p:nvSpPr>
        <p:spPr>
          <a:xfrm>
            <a:off x="640080" y="234559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head-r1"/>
          <p:cNvSpPr txBox="1"/>
          <p:nvPr/>
        </p:nvSpPr>
        <p:spPr>
          <a:xfrm>
            <a:off x="1261872" y="2318167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Audiences live in LaunchDarkly</a:t>
            </a:r>
            <a:endParaRPr lang="en-US" sz="1700" dirty="0"/>
          </a:p>
        </p:txBody>
      </p:sp>
      <p:sp>
        <p:nvSpPr>
          <p:cNvPr id="10" name="body-r1"/>
          <p:cNvSpPr txBox="1"/>
          <p:nvPr/>
        </p:nvSpPr>
        <p:spPr>
          <a:xfrm>
            <a:off x="1261872" y="2665639"/>
            <a:ext cx="6144768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Cities and OS ranges are segments. The app names no cohort.</a:t>
            </a:r>
            <a:endParaRPr lang="en-US" sz="1400" dirty="0"/>
          </a:p>
        </p:txBody>
      </p:sp>
      <p:sp>
        <p:nvSpPr>
          <p:cNvPr id="11" name="dot-r2"/>
          <p:cNvSpPr/>
          <p:nvPr/>
        </p:nvSpPr>
        <p:spPr>
          <a:xfrm>
            <a:off x="640080" y="3392749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dotlabel-r2"/>
          <p:cNvSpPr txBox="1"/>
          <p:nvPr/>
        </p:nvSpPr>
        <p:spPr>
          <a:xfrm>
            <a:off x="640080" y="339274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head-r2"/>
          <p:cNvSpPr txBox="1"/>
          <p:nvPr/>
        </p:nvSpPr>
        <p:spPr>
          <a:xfrm>
            <a:off x="1261872" y="3365317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read, re-rendered on change</a:t>
            </a:r>
            <a:endParaRPr lang="en-US" sz="1700" dirty="0"/>
          </a:p>
        </p:txBody>
      </p:sp>
      <p:sp>
        <p:nvSpPr>
          <p:cNvPr id="14" name="body-r2"/>
          <p:cNvSpPr txBox="1"/>
          <p:nvPr/>
        </p:nvSpPr>
        <p:spPr>
          <a:xfrm>
            <a:off x="1261872" y="3712789"/>
            <a:ext cx="6144768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One variation call and a change listener. That is all.</a:t>
            </a:r>
            <a:endParaRPr lang="en-US" sz="1400" dirty="0"/>
          </a:p>
        </p:txBody>
      </p:sp>
      <p:sp>
        <p:nvSpPr>
          <p:cNvPr id="15" name="dot-r3"/>
          <p:cNvSpPr/>
          <p:nvPr/>
        </p:nvSpPr>
        <p:spPr>
          <a:xfrm>
            <a:off x="640080" y="4439900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dotlabel-r3"/>
          <p:cNvSpPr txBox="1"/>
          <p:nvPr/>
        </p:nvSpPr>
        <p:spPr>
          <a:xfrm>
            <a:off x="640080" y="4439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head-r3"/>
          <p:cNvSpPr txBox="1"/>
          <p:nvPr/>
        </p:nvSpPr>
        <p:spPr>
          <a:xfrm>
            <a:off x="1261872" y="4412468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Telemetry rides the same context</a:t>
            </a:r>
            <a:endParaRPr lang="en-US" sz="1700" dirty="0"/>
          </a:p>
        </p:txBody>
      </p:sp>
      <p:sp>
        <p:nvSpPr>
          <p:cNvPr id="18" name="body-r3"/>
          <p:cNvSpPr txBox="1"/>
          <p:nvPr/>
        </p:nvSpPr>
        <p:spPr>
          <a:xfrm>
            <a:off x="1261872" y="4759940"/>
            <a:ext cx="6144768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The plugin tags every error, log, span and session.</a:t>
            </a:r>
            <a:endParaRPr lang="en-US" sz="1400" dirty="0"/>
          </a:p>
        </p:txBody>
      </p:sp>
      <p:sp>
        <p:nvSpPr>
          <p:cNvPr id="19" name="dot-r4"/>
          <p:cNvSpPr/>
          <p:nvPr/>
        </p:nvSpPr>
        <p:spPr>
          <a:xfrm>
            <a:off x="640080" y="5487050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dotlabel-r4"/>
          <p:cNvSpPr txBox="1"/>
          <p:nvPr/>
        </p:nvSpPr>
        <p:spPr>
          <a:xfrm>
            <a:off x="640080" y="54870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head-r4"/>
          <p:cNvSpPr txBox="1"/>
          <p:nvPr/>
        </p:nvSpPr>
        <p:spPr>
          <a:xfrm>
            <a:off x="1261872" y="5459618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Experiments are the same call</a:t>
            </a:r>
            <a:endParaRPr lang="en-US" sz="1700" dirty="0"/>
          </a:p>
        </p:txBody>
      </p:sp>
      <p:sp>
        <p:nvSpPr>
          <p:cNvPr id="22" name="body-r4"/>
          <p:cNvSpPr txBox="1"/>
          <p:nvPr/>
        </p:nvSpPr>
        <p:spPr>
          <a:xfrm>
            <a:off x="1261872" y="5807090"/>
            <a:ext cx="6144768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An experiment flag reads like any other. Only the metrics differ.</a:t>
            </a:r>
            <a:endParaRPr lang="en-US" sz="1400" dirty="0"/>
          </a:p>
        </p:txBody>
      </p:sp>
      <p:sp>
        <p:nvSpPr>
          <p:cNvPr id="23" name="card-sum"/>
          <p:cNvSpPr/>
          <p:nvPr/>
        </p:nvSpPr>
        <p:spPr>
          <a:xfrm>
            <a:off x="8001000" y="1298448"/>
            <a:ext cx="3639312" cy="4760265"/>
          </a:xfrm>
          <a:prstGeom prst="roundRect">
            <a:avLst>
              <a:gd name="adj" fmla="val 2010"/>
            </a:avLst>
          </a:prstGeom>
          <a:solidFill>
            <a:schemeClr val="tx2"/>
          </a:solidFill>
          <a:ln w="12700">
            <a:solidFill>
              <a:srgbClr val="D8F24E"/>
            </a:solidFill>
            <a:prstDash val="solid"/>
          </a:ln>
        </p:spPr>
      </p:sp>
      <p:sp>
        <p:nvSpPr>
          <p:cNvPr id="24" name="sumhead"/>
          <p:cNvSpPr txBox="1"/>
          <p:nvPr/>
        </p:nvSpPr>
        <p:spPr>
          <a:xfrm>
            <a:off x="8202168" y="1499616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The integration, in full</a:t>
            </a:r>
            <a:endParaRPr lang="en-US" sz="1700" dirty="0"/>
          </a:p>
        </p:txBody>
      </p:sp>
      <p:sp>
        <p:nvSpPr>
          <p:cNvPr id="25" name="sumstrip"/>
          <p:cNvSpPr/>
          <p:nvPr/>
        </p:nvSpPr>
        <p:spPr>
          <a:xfrm>
            <a:off x="8202168" y="1938528"/>
            <a:ext cx="3236976" cy="86868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26" name="sumcode"/>
          <p:cNvSpPr txBox="1"/>
          <p:nvPr/>
        </p:nvSpPr>
        <p:spPr>
          <a:xfrm>
            <a:off x="8357616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.variation(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ctx,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false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7" name="sumbody"/>
          <p:cNvSpPr txBox="1"/>
          <p:nvPr/>
        </p:nvSpPr>
        <p:spPr>
          <a:xfrm>
            <a:off x="8202168" y="2944368"/>
            <a:ext cx="3236976" cy="29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chemeClr val="bg2"/>
                </a:solidFill>
              </a:rPr>
              <a:t>That is the line. Everything else on these slides is LaunchDarkly configuration or telemetry. Nothing in the product code branches on city, OS version or device model.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chemeClr val="bg2"/>
                </a:solidFill>
              </a:rPr>
              <a:t>So adding iOS 19, or a fourth city, is a segment change and a release — not a build and not an app-store review.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Contexts: a trader and a device, in one call</a:t>
            </a:r>
            <a:endParaRPr lang="en-US" sz="3200" dirty="0"/>
          </a:p>
        </p:txBody>
      </p:sp>
      <p:sp>
        <p:nvSpPr>
          <p:cNvPr id="3" name="panel-ctx"/>
          <p:cNvSpPr/>
          <p:nvPr/>
        </p:nvSpPr>
        <p:spPr>
          <a:xfrm>
            <a:off x="548640" y="1097280"/>
            <a:ext cx="11091672" cy="3468116"/>
          </a:xfrm>
          <a:prstGeom prst="roundRect">
            <a:avLst>
              <a:gd name="adj" fmla="val 1846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ctx"/>
          <p:cNvSpPr txBox="1"/>
          <p:nvPr/>
        </p:nvSpPr>
        <p:spPr>
          <a:xfrm>
            <a:off x="704088" y="1229411"/>
            <a:ext cx="10780776" cy="320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app/simulator.js - one multi-context per session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buildContext(family, group)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=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`${family.prefix}-usr-${crypto.randomUUID().slice(0, 8)}`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plan_tier: pick(PLAN_TIERS),            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free | pro | hni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(family.id ===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'one'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user.region = REGIONS[group].city;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Delhi | Jaipur | Goa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'multi'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device: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`${family.prefix}-dev-${crypto.randomUUID().slice(0, 12)}`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operating_system: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'iOS'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os_version:  pick(COHORTS[cohort].versions),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18.1.1 | 17.6.1 | 16.7.8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      pick(MODELS[cohort]),     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iPhone 15 Pro, iPad Air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app_version: pick(APP_VERSIONS),       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5.13.0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card-c0"/>
          <p:cNvSpPr/>
          <p:nvPr/>
        </p:nvSpPr>
        <p:spPr>
          <a:xfrm>
            <a:off x="548640" y="4882571"/>
            <a:ext cx="354787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arddot-c0"/>
          <p:cNvSpPr/>
          <p:nvPr/>
        </p:nvSpPr>
        <p:spPr>
          <a:xfrm>
            <a:off x="749808" y="5083739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ardglyph-c0"/>
          <p:cNvSpPr txBox="1"/>
          <p:nvPr/>
        </p:nvSpPr>
        <p:spPr>
          <a:xfrm>
            <a:off x="749808" y="50837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</a:t>
            </a:r>
            <a:endParaRPr lang="en-US" sz="1300" dirty="0"/>
          </a:p>
        </p:txBody>
      </p:sp>
      <p:sp>
        <p:nvSpPr>
          <p:cNvPr id="8" name="cardhead-c0"/>
          <p:cNvSpPr txBox="1"/>
          <p:nvPr/>
        </p:nvSpPr>
        <p:spPr>
          <a:xfrm>
            <a:off x="1225296" y="5065451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kind: multi</a:t>
            </a:r>
            <a:endParaRPr lang="en-US" sz="1500" dirty="0"/>
          </a:p>
        </p:txBody>
      </p:sp>
      <p:sp>
        <p:nvSpPr>
          <p:cNvPr id="9" name="cardbody-c0"/>
          <p:cNvSpPr txBox="1"/>
          <p:nvPr/>
        </p:nvSpPr>
        <p:spPr>
          <a:xfrm>
            <a:off x="749808" y="5577515"/>
            <a:ext cx="314553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Two identities in one call. Target either, or both at once.</a:t>
            </a:r>
            <a:endParaRPr lang="en-US" sz="1400" dirty="0"/>
          </a:p>
        </p:txBody>
      </p:sp>
      <p:sp>
        <p:nvSpPr>
          <p:cNvPr id="10" name="card-c1"/>
          <p:cNvSpPr/>
          <p:nvPr/>
        </p:nvSpPr>
        <p:spPr>
          <a:xfrm>
            <a:off x="4315968" y="4882571"/>
            <a:ext cx="354787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1" name="carddot-c1"/>
          <p:cNvSpPr/>
          <p:nvPr/>
        </p:nvSpPr>
        <p:spPr>
          <a:xfrm>
            <a:off x="4517136" y="508373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cardglyph-c1"/>
          <p:cNvSpPr txBox="1"/>
          <p:nvPr/>
        </p:nvSpPr>
        <p:spPr>
          <a:xfrm>
            <a:off x="4517136" y="50837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</a:t>
            </a:r>
            <a:endParaRPr lang="en-US" sz="1300" dirty="0"/>
          </a:p>
        </p:txBody>
      </p:sp>
      <p:sp>
        <p:nvSpPr>
          <p:cNvPr id="13" name="cardhead-c1"/>
          <p:cNvSpPr txBox="1"/>
          <p:nvPr/>
        </p:nvSpPr>
        <p:spPr>
          <a:xfrm>
            <a:off x="4992624" y="5065451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Randomized by device</a:t>
            </a:r>
            <a:endParaRPr lang="en-US" sz="1500" dirty="0"/>
          </a:p>
        </p:txBody>
      </p:sp>
      <p:sp>
        <p:nvSpPr>
          <p:cNvPr id="14" name="cardbody-c1"/>
          <p:cNvSpPr txBox="1"/>
          <p:nvPr/>
        </p:nvSpPr>
        <p:spPr>
          <a:xfrm>
            <a:off x="4517136" y="5577515"/>
            <a:ext cx="314553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Rollouts and experiments bucket by device, not by trader.</a:t>
            </a:r>
            <a:endParaRPr lang="en-US" sz="1400" dirty="0"/>
          </a:p>
        </p:txBody>
      </p:sp>
      <p:sp>
        <p:nvSpPr>
          <p:cNvPr id="15" name="card-c2"/>
          <p:cNvSpPr/>
          <p:nvPr/>
        </p:nvSpPr>
        <p:spPr>
          <a:xfrm>
            <a:off x="8092440" y="4882571"/>
            <a:ext cx="354787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6" name="carddot-c2"/>
          <p:cNvSpPr/>
          <p:nvPr/>
        </p:nvSpPr>
        <p:spPr>
          <a:xfrm>
            <a:off x="8293608" y="5083739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cardglyph-c2"/>
          <p:cNvSpPr txBox="1"/>
          <p:nvPr/>
        </p:nvSpPr>
        <p:spPr>
          <a:xfrm>
            <a:off x="8293608" y="50837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</a:t>
            </a:r>
            <a:endParaRPr lang="en-US" sz="1300" dirty="0"/>
          </a:p>
        </p:txBody>
      </p:sp>
      <p:sp>
        <p:nvSpPr>
          <p:cNvPr id="18" name="cardhead-c2"/>
          <p:cNvSpPr txBox="1"/>
          <p:nvPr/>
        </p:nvSpPr>
        <p:spPr>
          <a:xfrm>
            <a:off x="8769096" y="5065451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Facts, not verdicts</a:t>
            </a:r>
            <a:endParaRPr lang="en-US" sz="1500" dirty="0"/>
          </a:p>
        </p:txBody>
      </p:sp>
      <p:sp>
        <p:nvSpPr>
          <p:cNvPr id="19" name="cardbody-c2"/>
          <p:cNvSpPr txBox="1"/>
          <p:nvPr/>
        </p:nvSpPr>
        <p:spPr>
          <a:xfrm>
            <a:off x="8293608" y="5577515"/>
            <a:ext cx="314553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The app sends os_version and region, never a cohort.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Segments: audiences are reusable objects</a:t>
            </a:r>
            <a:endParaRPr lang="en-US" sz="3200" dirty="0"/>
          </a:p>
        </p:txBody>
      </p:sp>
      <p:sp>
        <p:nvSpPr>
          <p:cNvPr id="3" name="panel-segregion"/>
          <p:cNvSpPr/>
          <p:nvPr/>
        </p:nvSpPr>
        <p:spPr>
          <a:xfrm>
            <a:off x="548640" y="1097280"/>
            <a:ext cx="5486400" cy="3625977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segregion"/>
          <p:cNvSpPr txBox="1"/>
          <p:nvPr/>
        </p:nvSpPr>
        <p:spPr>
          <a:xfrm>
            <a:off x="704088" y="1229411"/>
            <a:ext cx="5175504" cy="336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launchdarkly/segments.tf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"launchdarkly_segment"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local.regions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delhi, jaipur, goa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 =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       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region-delhi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.value.name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Delhi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clauses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context_kind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attribute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       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values       = [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.value.city]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the flag rules that reuse them: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Delhi  -&gt; segmentMatch region-delhi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Jaipur -&gt; segmentMatch region-jaipur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Goa    -&gt; segmentMatch region-goa</a:t>
            </a:r>
            <a:endParaRPr lang="en-US" sz="1000" dirty="0"/>
          </a:p>
        </p:txBody>
      </p:sp>
      <p:sp>
        <p:nvSpPr>
          <p:cNvPr id="5" name="panel-segios"/>
          <p:cNvSpPr/>
          <p:nvPr/>
        </p:nvSpPr>
        <p:spPr>
          <a:xfrm>
            <a:off x="6153912" y="1097280"/>
            <a:ext cx="5486400" cy="3625977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ode-segios"/>
          <p:cNvSpPr txBox="1"/>
          <p:nvPr/>
        </p:nvSpPr>
        <p:spPr>
          <a:xfrm>
            <a:off x="6309360" y="1229411"/>
            <a:ext cx="5175504" cy="336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file, on the device kind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"launchdarkly_segment"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"ios_17"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"ios-17"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"iOS 17"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 {          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&gt;= 17.0.0 and &lt; 18.0.0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clauses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context_kind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attribute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"os_version"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       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"semVerLessThan"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values       = [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"17.0.0"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negate       =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"&gt;=" operator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clauses {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context_kind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attribute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"os_version"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           =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"semVerLessThan"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values       = [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"18.0.0"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hip-0"/>
          <p:cNvSpPr txBox="1"/>
          <p:nvPr/>
        </p:nvSpPr>
        <p:spPr>
          <a:xfrm>
            <a:off x="548640" y="4869561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region-delhi  ·  region-jaipur  ·  region-goa</a:t>
            </a:r>
            <a:endParaRPr lang="en-US" sz="1300" dirty="0"/>
          </a:p>
        </p:txBody>
      </p:sp>
      <p:sp>
        <p:nvSpPr>
          <p:cNvPr id="8" name="chip-1"/>
          <p:cNvSpPr txBox="1"/>
          <p:nvPr/>
        </p:nvSpPr>
        <p:spPr>
          <a:xfrm>
            <a:off x="6153912" y="4869561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ios-18-plus  ·  ios-17  ·  ios-16-and-older</a:t>
            </a:r>
            <a:endParaRPr lang="en-US" sz="1300" dirty="0"/>
          </a:p>
        </p:txBody>
      </p:sp>
      <p:sp>
        <p:nvSpPr>
          <p:cNvPr id="9" name="caption"/>
          <p:cNvSpPr txBox="1"/>
          <p:nvPr/>
        </p:nvSpPr>
        <p:spPr>
          <a:xfrm>
            <a:off x="566928" y="5290185"/>
            <a:ext cx="11064240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Six segments, defined once. The release rules, the experiment audiences and the monitoring filters all point at these same objects.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Dark mode as one flag, released city by city</a:t>
            </a:r>
            <a:endParaRPr lang="en-US" sz="3200" dirty="0"/>
          </a:p>
        </p:txBody>
      </p:sp>
      <p:sp>
        <p:nvSpPr>
          <p:cNvPr id="3" name="panel-optbapp"/>
          <p:cNvSpPr/>
          <p:nvPr/>
        </p:nvSpPr>
        <p:spPr>
          <a:xfrm>
            <a:off x="548640" y="1097280"/>
            <a:ext cx="7726680" cy="1400137"/>
          </a:xfrm>
          <a:prstGeom prst="roundRect">
            <a:avLst>
              <a:gd name="adj" fmla="val 457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optbapp"/>
          <p:cNvSpPr txBox="1"/>
          <p:nvPr/>
        </p:nvSpPr>
        <p:spPr>
          <a:xfrm>
            <a:off x="704088" y="1229411"/>
            <a:ext cx="7415784" cy="113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app/demo.html - the only flag the app reads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flagKey      = () =&gt;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currentValue = () =&gt; client.variation(flagKey(),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client.on(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'ready'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() =&gt; renderApp(currentValue()));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client.on(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'change'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renderApp(currentValue()));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rollback</a:t>
            </a:r>
            <a:endParaRPr lang="en-US" sz="1150" dirty="0"/>
          </a:p>
        </p:txBody>
      </p:sp>
      <p:sp>
        <p:nvSpPr>
          <p:cNvPr id="5" name="panel-optbrules"/>
          <p:cNvSpPr/>
          <p:nvPr/>
        </p:nvSpPr>
        <p:spPr>
          <a:xfrm>
            <a:off x="548640" y="2716873"/>
            <a:ext cx="7726680" cy="2852458"/>
          </a:xfrm>
          <a:prstGeom prst="roundRect">
            <a:avLst>
              <a:gd name="adj" fmla="val 2244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ode-optbrules"/>
          <p:cNvSpPr txBox="1"/>
          <p:nvPr/>
        </p:nvSpPr>
        <p:spPr>
          <a:xfrm>
            <a:off x="704088" y="2849004"/>
            <a:ext cx="7415784" cy="258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launchdarkly/flags.tf - rule order IS the release sequence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{ description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"Delhi"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clauses { context_kind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attribute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"segmentMatch"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"segmentMatch"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[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"region-delhi"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{ description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"Jaipur"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segmentMatch region-jaipur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{ description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"Goa"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segmentMatch region-goa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fallthrough { variation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everyone else: dark mode off</a:t>
            </a:r>
            <a:endParaRPr lang="en-US" sz="1150" dirty="0"/>
          </a:p>
        </p:txBody>
      </p:sp>
      <p:sp>
        <p:nvSpPr>
          <p:cNvPr id="7" name="card-p0"/>
          <p:cNvSpPr/>
          <p:nvPr/>
        </p:nvSpPr>
        <p:spPr>
          <a:xfrm>
            <a:off x="8458200" y="1097280"/>
            <a:ext cx="318211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12700">
            <a:solidFill>
              <a:srgbClr val="4ED9A4"/>
            </a:solidFill>
            <a:prstDash val="solid"/>
          </a:ln>
        </p:spPr>
      </p:sp>
      <p:sp>
        <p:nvSpPr>
          <p:cNvPr id="8" name="carddot-p0"/>
          <p:cNvSpPr/>
          <p:nvPr/>
        </p:nvSpPr>
        <p:spPr>
          <a:xfrm>
            <a:off x="8659368" y="129844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cardglyph-p0"/>
          <p:cNvSpPr txBox="1"/>
          <p:nvPr/>
        </p:nvSpPr>
        <p:spPr>
          <a:xfrm>
            <a:off x="865936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cardhead-p0"/>
          <p:cNvSpPr txBox="1"/>
          <p:nvPr/>
        </p:nvSpPr>
        <p:spPr>
          <a:xfrm>
            <a:off x="9134856" y="128016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Delhi</a:t>
            </a:r>
            <a:endParaRPr lang="en-US" sz="1500" dirty="0"/>
          </a:p>
        </p:txBody>
      </p:sp>
      <p:sp>
        <p:nvSpPr>
          <p:cNvPr id="11" name="cardbody-p0"/>
          <p:cNvSpPr txBox="1"/>
          <p:nvPr/>
        </p:nvSpPr>
        <p:spPr>
          <a:xfrm>
            <a:off x="8659368" y="1792224"/>
            <a:ext cx="277977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Guarded rollout on this rule alone, 10% through to 100%.</a:t>
            </a:r>
            <a:endParaRPr lang="en-US" sz="1400" dirty="0"/>
          </a:p>
        </p:txBody>
      </p:sp>
      <p:sp>
        <p:nvSpPr>
          <p:cNvPr id="12" name="card-p1"/>
          <p:cNvSpPr/>
          <p:nvPr/>
        </p:nvSpPr>
        <p:spPr>
          <a:xfrm>
            <a:off x="8458200" y="2697805"/>
            <a:ext cx="318211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carddot-p1"/>
          <p:cNvSpPr/>
          <p:nvPr/>
        </p:nvSpPr>
        <p:spPr>
          <a:xfrm>
            <a:off x="8659368" y="2898973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cardglyph-p1"/>
          <p:cNvSpPr txBox="1"/>
          <p:nvPr/>
        </p:nvSpPr>
        <p:spPr>
          <a:xfrm>
            <a:off x="8659368" y="28989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cardhead-p1"/>
          <p:cNvSpPr txBox="1"/>
          <p:nvPr/>
        </p:nvSpPr>
        <p:spPr>
          <a:xfrm>
            <a:off x="9134856" y="2880685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Jaipur</a:t>
            </a:r>
            <a:endParaRPr lang="en-US" sz="1500" dirty="0"/>
          </a:p>
        </p:txBody>
      </p:sp>
      <p:sp>
        <p:nvSpPr>
          <p:cNvPr id="16" name="cardbody-p1"/>
          <p:cNvSpPr txBox="1"/>
          <p:nvPr/>
        </p:nvSpPr>
        <p:spPr>
          <a:xfrm>
            <a:off x="8659368" y="3392749"/>
            <a:ext cx="277977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Errors spike. LaunchDarkly reverts this rule by itself.</a:t>
            </a:r>
            <a:endParaRPr lang="en-US" sz="1400" dirty="0"/>
          </a:p>
        </p:txBody>
      </p:sp>
      <p:sp>
        <p:nvSpPr>
          <p:cNvPr id="17" name="card-p2"/>
          <p:cNvSpPr/>
          <p:nvPr/>
        </p:nvSpPr>
        <p:spPr>
          <a:xfrm>
            <a:off x="8458200" y="4298330"/>
            <a:ext cx="318211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8" name="carddot-p2"/>
          <p:cNvSpPr/>
          <p:nvPr/>
        </p:nvSpPr>
        <p:spPr>
          <a:xfrm>
            <a:off x="8659368" y="4499498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cardglyph-p2"/>
          <p:cNvSpPr txBox="1"/>
          <p:nvPr/>
        </p:nvSpPr>
        <p:spPr>
          <a:xfrm>
            <a:off x="8659368" y="4499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cardhead-p2"/>
          <p:cNvSpPr txBox="1"/>
          <p:nvPr/>
        </p:nvSpPr>
        <p:spPr>
          <a:xfrm>
            <a:off x="9134856" y="448121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Goa</a:t>
            </a:r>
            <a:endParaRPr lang="en-US" sz="1500" dirty="0"/>
          </a:p>
        </p:txBody>
      </p:sp>
      <p:sp>
        <p:nvSpPr>
          <p:cNvPr id="21" name="cardbody-p2"/>
          <p:cNvSpPr txBox="1"/>
          <p:nvPr/>
        </p:nvSpPr>
        <p:spPr>
          <a:xfrm>
            <a:off x="8659368" y="4993274"/>
            <a:ext cx="277977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Never exposed. The sequence stops where it failed.</a:t>
            </a:r>
            <a:endParaRPr lang="en-US" sz="1400" dirty="0"/>
          </a:p>
        </p:txBody>
      </p:sp>
      <p:sp>
        <p:nvSpPr>
          <p:cNvPr id="22" name="caption"/>
          <p:cNvSpPr txBox="1"/>
          <p:nvPr/>
        </p:nvSpPr>
        <p:spPr>
          <a:xfrm>
            <a:off x="566928" y="5807075"/>
            <a:ext cx="7726680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Rule order is the sequence. A rollback reverts one rule, so live cities stay dark.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same feature as a flag per OS version</a:t>
            </a:r>
            <a:endParaRPr lang="en-US" sz="3200" dirty="0"/>
          </a:p>
        </p:txBody>
      </p:sp>
      <p:sp>
        <p:nvSpPr>
          <p:cNvPr id="3" name="panel-opta"/>
          <p:cNvSpPr/>
          <p:nvPr/>
        </p:nvSpPr>
        <p:spPr>
          <a:xfrm>
            <a:off x="548640" y="1097280"/>
            <a:ext cx="7726680" cy="4288993"/>
          </a:xfrm>
          <a:prstGeom prst="roundRect">
            <a:avLst>
              <a:gd name="adj" fmla="val 149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opta"/>
          <p:cNvSpPr txBox="1"/>
          <p:nvPr/>
        </p:nvSpPr>
        <p:spPr>
          <a:xfrm>
            <a:off x="704088" y="1229411"/>
            <a:ext cx="7415784" cy="402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app/simulator.js - both shapes run side by side in the demo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OPTION_A_FLAG =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ios18: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'dark-mode-ios18'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ios17: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'dark-mode-ios17'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ios16: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'dark-mode-ios16'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FAMILIES = [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'one'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                         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flag, city by city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flagFor: ()  =&gt;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'dark-mode'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isBuggy: (g) =&gt; g === cfg.buggyRegion },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'optiona'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                     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flag per OS version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flagFor: (g) =&gt; OPTION_A_FLAG[g],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isBuggy: (g) =&gt; g === cfg.buggyCohort },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cost: the app has to work out which cohort it is in before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 can even name the flag it wants.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 = OPTION_A_FLAG[cohortOf(device.os_version)];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dark =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client.variation(key, ctx,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5" name="card-a1"/>
          <p:cNvSpPr/>
          <p:nvPr/>
        </p:nvSpPr>
        <p:spPr>
          <a:xfrm>
            <a:off x="8458200" y="1097280"/>
            <a:ext cx="3182112" cy="1632692"/>
          </a:xfrm>
          <a:prstGeom prst="roundRect">
            <a:avLst>
              <a:gd name="adj" fmla="val 4480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arddot-a1"/>
          <p:cNvSpPr/>
          <p:nvPr/>
        </p:nvSpPr>
        <p:spPr>
          <a:xfrm>
            <a:off x="8659368" y="129844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ardglyph-a1"/>
          <p:cNvSpPr txBox="1"/>
          <p:nvPr/>
        </p:nvSpPr>
        <p:spPr>
          <a:xfrm>
            <a:off x="865936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cardhead-a1"/>
          <p:cNvSpPr txBox="1"/>
          <p:nvPr/>
        </p:nvSpPr>
        <p:spPr>
          <a:xfrm>
            <a:off x="9134856" y="128016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Three of everything</a:t>
            </a:r>
            <a:endParaRPr lang="en-US" sz="1500" dirty="0"/>
          </a:p>
        </p:txBody>
      </p:sp>
      <p:sp>
        <p:nvSpPr>
          <p:cNvPr id="9" name="cardbody-a1"/>
          <p:cNvSpPr txBox="1"/>
          <p:nvPr/>
        </p:nvSpPr>
        <p:spPr>
          <a:xfrm>
            <a:off x="8659368" y="1792224"/>
            <a:ext cx="2779776" cy="75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Three flags, three rollouts, three metric sets, three rollbacks.</a:t>
            </a:r>
            <a:endParaRPr lang="en-US" sz="1400" dirty="0"/>
          </a:p>
        </p:txBody>
      </p:sp>
      <p:sp>
        <p:nvSpPr>
          <p:cNvPr id="10" name="card-a2"/>
          <p:cNvSpPr/>
          <p:nvPr/>
        </p:nvSpPr>
        <p:spPr>
          <a:xfrm>
            <a:off x="8458200" y="2949428"/>
            <a:ext cx="318211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1" name="carddot-a2"/>
          <p:cNvSpPr/>
          <p:nvPr/>
        </p:nvSpPr>
        <p:spPr>
          <a:xfrm>
            <a:off x="8659368" y="3150596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cardglyph-a2"/>
          <p:cNvSpPr txBox="1"/>
          <p:nvPr/>
        </p:nvSpPr>
        <p:spPr>
          <a:xfrm>
            <a:off x="8659368" y="31505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!</a:t>
            </a:r>
            <a:endParaRPr lang="en-US" sz="1300" dirty="0"/>
          </a:p>
        </p:txBody>
      </p:sp>
      <p:sp>
        <p:nvSpPr>
          <p:cNvPr id="13" name="cardhead-a2"/>
          <p:cNvSpPr txBox="1"/>
          <p:nvPr/>
        </p:nvSpPr>
        <p:spPr>
          <a:xfrm>
            <a:off x="9134856" y="313230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Audience in the key</a:t>
            </a:r>
            <a:endParaRPr lang="en-US" sz="1500" dirty="0"/>
          </a:p>
        </p:txBody>
      </p:sp>
      <p:sp>
        <p:nvSpPr>
          <p:cNvPr id="14" name="cardbody-a2"/>
          <p:cNvSpPr txBox="1"/>
          <p:nvPr/>
        </p:nvSpPr>
        <p:spPr>
          <a:xfrm>
            <a:off x="8659368" y="3644372"/>
            <a:ext cx="277977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The key carries the cohort, so the app must place the device.</a:t>
            </a:r>
            <a:endParaRPr lang="en-US" sz="1400" dirty="0"/>
          </a:p>
        </p:txBody>
      </p:sp>
      <p:sp>
        <p:nvSpPr>
          <p:cNvPr id="15" name="card-a3"/>
          <p:cNvSpPr/>
          <p:nvPr/>
        </p:nvSpPr>
        <p:spPr>
          <a:xfrm>
            <a:off x="8458200" y="4549953"/>
            <a:ext cx="3182112" cy="1381069"/>
          </a:xfrm>
          <a:prstGeom prst="roundRect">
            <a:avLst>
              <a:gd name="adj" fmla="val 529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6" name="carddot-a3"/>
          <p:cNvSpPr/>
          <p:nvPr/>
        </p:nvSpPr>
        <p:spPr>
          <a:xfrm>
            <a:off x="8659368" y="4751121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cardglyph-a3"/>
          <p:cNvSpPr txBox="1"/>
          <p:nvPr/>
        </p:nvSpPr>
        <p:spPr>
          <a:xfrm>
            <a:off x="8659368" y="475112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cardhead-a3"/>
          <p:cNvSpPr txBox="1"/>
          <p:nvPr/>
        </p:nvSpPr>
        <p:spPr>
          <a:xfrm>
            <a:off x="9134856" y="4732833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Still a valid shape</a:t>
            </a:r>
            <a:endParaRPr lang="en-US" sz="1500" dirty="0"/>
          </a:p>
        </p:txBody>
      </p:sp>
      <p:sp>
        <p:nvSpPr>
          <p:cNvPr id="19" name="cardbody-a3"/>
          <p:cNvSpPr txBox="1"/>
          <p:nvPr/>
        </p:nvSpPr>
        <p:spPr>
          <a:xfrm>
            <a:off x="8659368" y="5244897"/>
            <a:ext cx="2779776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How most teams start, and it works. It just does not scale.</a:t>
            </a:r>
            <a:endParaRPr lang="en-US" sz="1400" dirty="0"/>
          </a:p>
        </p:txBody>
      </p:sp>
      <p:sp>
        <p:nvSpPr>
          <p:cNvPr id="20" name="caption"/>
          <p:cNvSpPr txBox="1"/>
          <p:nvPr/>
        </p:nvSpPr>
        <p:spPr>
          <a:xfrm>
            <a:off x="566928" y="5624017"/>
            <a:ext cx="7726680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Both shapes run in the demo, so the trade-off is visible rather than asserted.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Where the two shapes diverge</a:t>
            </a:r>
            <a:endParaRPr lang="en-US" sz="3200" dirty="0"/>
          </a:p>
        </p:txBody>
      </p:sp>
      <p:graphicFrame>
        <p:nvGraphicFramePr>
          <p:cNvPr id="8" name="comp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1109167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438912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0E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flag, audience-based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0E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flag per OS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to own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one per cohort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variation('dark-mode', ctx)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the key from the device, then evaluate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iOS 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ED9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segment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flag and a new code path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scope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ED9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active phase’s rule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one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ED9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order: Delhi → Jaipur → Goa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releases coordinated by hand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reuse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ED9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segments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redefined per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ED9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one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three, in step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30"/>
                    </a:solidFill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66928" y="5468112"/>
            <a:ext cx="11064240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Both get dark mode to production safely. The difference is what you carry afterwards, every time the device matrix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Observability: one plugin on each SDK</a:t>
            </a:r>
            <a:endParaRPr lang="en-US" sz="3200" dirty="0"/>
          </a:p>
        </p:txBody>
      </p:sp>
      <p:sp>
        <p:nvSpPr>
          <p:cNvPr id="3" name="panel-obssrv"/>
          <p:cNvSpPr/>
          <p:nvPr/>
        </p:nvSpPr>
        <p:spPr>
          <a:xfrm>
            <a:off x="548640" y="1097280"/>
            <a:ext cx="5486400" cy="3625977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obssrv"/>
          <p:cNvSpPr txBox="1"/>
          <p:nvPr/>
        </p:nvSpPr>
        <p:spPr>
          <a:xfrm>
            <a:off x="704088" y="1229411"/>
            <a:ext cx="5175504" cy="336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app/simulator.js - plugin first, behind a kill switch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Observability =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LDObserve =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(OBSERVABILITY)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({ Observability, LDObserve } =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'@launchdarkly/observability-node'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(e)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'continuing without it:'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e.message);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ld =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'@launchdarkly/node-server-sdk'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options = {};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(Observability)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options.plugins = [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Observability({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serviceName: 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'brokerage-trading-api'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serviceVersion: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'demo-5.13.0'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})];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= ld.init(cfg.sdkKey, options);</a:t>
            </a:r>
            <a:endParaRPr lang="en-US" sz="1050" dirty="0"/>
          </a:p>
        </p:txBody>
      </p:sp>
      <p:sp>
        <p:nvSpPr>
          <p:cNvPr id="5" name="panel-obsweb"/>
          <p:cNvSpPr/>
          <p:nvPr/>
        </p:nvSpPr>
        <p:spPr>
          <a:xfrm>
            <a:off x="6153912" y="1097280"/>
            <a:ext cx="5486400" cy="3625977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ode-obsweb"/>
          <p:cNvSpPr txBox="1"/>
          <p:nvPr/>
        </p:nvSpPr>
        <p:spPr>
          <a:xfrm>
            <a:off x="6309360" y="1229411"/>
            <a:ext cx="5175504" cy="336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app/demo.html - same idea, default exports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as LDClient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'launchdarkly-js-client-sdk'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Observability, { LDObserve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'@launchdarkly/observability'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SessionReplay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'@launchdarkly/session-replay'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= LDClient.initialize(CFG.clientSideId,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contextFor(cohort, appIdx),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plugins: [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Observability({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serviceName: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'brokerage-trader-web'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SessionReplay({ privacySetting: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'none'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Errors, logs, traces and replay now ride the same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context as the flag evaluation. No second SDK, no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second identity, no stitching by timestamp later.</a:t>
            </a:r>
            <a:endParaRPr lang="en-US" sz="1050" dirty="0"/>
          </a:p>
        </p:txBody>
      </p:sp>
      <p:sp>
        <p:nvSpPr>
          <p:cNvPr id="7" name="lbl-0"/>
          <p:cNvSpPr txBox="1"/>
          <p:nvPr/>
        </p:nvSpPr>
        <p:spPr>
          <a:xfrm>
            <a:off x="548640" y="4869561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 ·  @launchdarkly/observability-node</a:t>
            </a:r>
            <a:endParaRPr lang="en-US" sz="1300" dirty="0"/>
          </a:p>
        </p:txBody>
      </p:sp>
      <p:sp>
        <p:nvSpPr>
          <p:cNvPr id="8" name="lbl-1"/>
          <p:cNvSpPr txBox="1"/>
          <p:nvPr/>
        </p:nvSpPr>
        <p:spPr>
          <a:xfrm>
            <a:off x="6153912" y="4869561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·  observability + session-replay</a:t>
            </a:r>
            <a:endParaRPr lang="en-US" sz="1300" dirty="0"/>
          </a:p>
        </p:txBody>
      </p:sp>
      <p:sp>
        <p:nvSpPr>
          <p:cNvPr id="9" name="caption"/>
          <p:cNvSpPr txBox="1"/>
          <p:nvPr/>
        </p:nvSpPr>
        <p:spPr>
          <a:xfrm>
            <a:off x="566928" y="5290185"/>
            <a:ext cx="11064240" cy="25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The plugin is built before the SDK and handed to it, so telemetry is attached to the very client that does the evaluating.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Every signal carries the flag value</a:t>
            </a:r>
            <a:endParaRPr lang="en-US" sz="3200" dirty="0"/>
          </a:p>
        </p:txBody>
      </p:sp>
      <p:sp>
        <p:nvSpPr>
          <p:cNvPr id="3" name="panel-signals"/>
          <p:cNvSpPr/>
          <p:nvPr/>
        </p:nvSpPr>
        <p:spPr>
          <a:xfrm>
            <a:off x="548640" y="1097280"/>
            <a:ext cx="7726680" cy="4288993"/>
          </a:xfrm>
          <a:prstGeom prst="roundRect">
            <a:avLst>
              <a:gd name="adj" fmla="val 149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signals"/>
          <p:cNvSpPr txBox="1"/>
          <p:nvPr/>
        </p:nvSpPr>
        <p:spPr>
          <a:xfrm>
            <a:off x="704088" y="1229411"/>
            <a:ext cx="7415784" cy="402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attribute bag, reused on every signal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attrs =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'app.cohort'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group,                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ios17 | jaipur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'app.os_version'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ctx.device.os_version,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'app.device_model'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ctx.device.model,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'app.screen'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'portfolio'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'feature.flag_key'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flagKey,              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dark-mode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'feature.dark_mode'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darkMode,             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| false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'app.screen_load_ms'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loadMs,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LDObserve.setAttributes(attrs);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LDObserve.recordLog(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`portfolio rendered: dark=${darkMode}`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attrs);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LDObserve.recordError(err,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attrs);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LDObserve.recordHistogram({ name: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'portfolio.screen_load_ms'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value: loadMs, attributes: attrs });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span per session, so Traces shows the render path per cohort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LDObserve.runWithHeaders(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 /portfolio'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{},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renderPortfolio(client, family, group, ctx, s));</a:t>
            </a:r>
            <a:endParaRPr lang="en-US" sz="1200" dirty="0"/>
          </a:p>
        </p:txBody>
      </p:sp>
      <p:sp>
        <p:nvSpPr>
          <p:cNvPr id="5" name="card-s0"/>
          <p:cNvSpPr/>
          <p:nvPr/>
        </p:nvSpPr>
        <p:spPr>
          <a:xfrm>
            <a:off x="8458200" y="1097280"/>
            <a:ext cx="3182112" cy="1111474"/>
          </a:xfrm>
          <a:prstGeom prst="roundRect">
            <a:avLst>
              <a:gd name="adj" fmla="val 658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arddot-s0"/>
          <p:cNvSpPr/>
          <p:nvPr/>
        </p:nvSpPr>
        <p:spPr>
          <a:xfrm>
            <a:off x="8659368" y="1298448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cardglyph-s0"/>
          <p:cNvSpPr txBox="1"/>
          <p:nvPr/>
        </p:nvSpPr>
        <p:spPr>
          <a:xfrm>
            <a:off x="865936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</a:t>
            </a:r>
            <a:endParaRPr lang="en-US" sz="1300" dirty="0"/>
          </a:p>
        </p:txBody>
      </p:sp>
      <p:sp>
        <p:nvSpPr>
          <p:cNvPr id="8" name="cardhead-s0"/>
          <p:cNvSpPr txBox="1"/>
          <p:nvPr/>
        </p:nvSpPr>
        <p:spPr>
          <a:xfrm>
            <a:off x="9134856" y="128016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Errors</a:t>
            </a:r>
            <a:endParaRPr lang="en-US" sz="1500" dirty="0"/>
          </a:p>
        </p:txBody>
      </p:sp>
      <p:sp>
        <p:nvSpPr>
          <p:cNvPr id="9" name="cardbody-s0"/>
          <p:cNvSpPr txBox="1"/>
          <p:nvPr/>
        </p:nvSpPr>
        <p:spPr>
          <a:xfrm>
            <a:off x="8659368" y="1792224"/>
            <a:ext cx="2779776" cy="2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Grouped, sliced by flag value</a:t>
            </a:r>
            <a:endParaRPr lang="en-US" sz="1300" dirty="0"/>
          </a:p>
        </p:txBody>
      </p:sp>
      <p:sp>
        <p:nvSpPr>
          <p:cNvPr id="10" name="card-s1"/>
          <p:cNvSpPr/>
          <p:nvPr/>
        </p:nvSpPr>
        <p:spPr>
          <a:xfrm>
            <a:off x="8458200" y="2409922"/>
            <a:ext cx="3182112" cy="1111474"/>
          </a:xfrm>
          <a:prstGeom prst="roundRect">
            <a:avLst>
              <a:gd name="adj" fmla="val 658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1" name="carddot-s1"/>
          <p:cNvSpPr/>
          <p:nvPr/>
        </p:nvSpPr>
        <p:spPr>
          <a:xfrm>
            <a:off x="8659368" y="261109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cardglyph-s1"/>
          <p:cNvSpPr txBox="1"/>
          <p:nvPr/>
        </p:nvSpPr>
        <p:spPr>
          <a:xfrm>
            <a:off x="8659368" y="26110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</a:t>
            </a:r>
            <a:endParaRPr lang="en-US" sz="1300" dirty="0"/>
          </a:p>
        </p:txBody>
      </p:sp>
      <p:sp>
        <p:nvSpPr>
          <p:cNvPr id="13" name="cardhead-s1"/>
          <p:cNvSpPr txBox="1"/>
          <p:nvPr/>
        </p:nvSpPr>
        <p:spPr>
          <a:xfrm>
            <a:off x="9134856" y="259280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Logs</a:t>
            </a:r>
            <a:endParaRPr lang="en-US" sz="1500" dirty="0"/>
          </a:p>
        </p:txBody>
      </p:sp>
      <p:sp>
        <p:nvSpPr>
          <p:cNvPr id="14" name="cardbody-s1"/>
          <p:cNvSpPr txBox="1"/>
          <p:nvPr/>
        </p:nvSpPr>
        <p:spPr>
          <a:xfrm>
            <a:off x="8659368" y="3104866"/>
            <a:ext cx="2779776" cy="2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A line per render, with cohort</a:t>
            </a:r>
            <a:endParaRPr lang="en-US" sz="1300" dirty="0"/>
          </a:p>
        </p:txBody>
      </p:sp>
      <p:sp>
        <p:nvSpPr>
          <p:cNvPr id="15" name="card-s2"/>
          <p:cNvSpPr/>
          <p:nvPr/>
        </p:nvSpPr>
        <p:spPr>
          <a:xfrm>
            <a:off x="8458200" y="3722563"/>
            <a:ext cx="3182112" cy="1111474"/>
          </a:xfrm>
          <a:prstGeom prst="roundRect">
            <a:avLst>
              <a:gd name="adj" fmla="val 658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6" name="carddot-s2"/>
          <p:cNvSpPr/>
          <p:nvPr/>
        </p:nvSpPr>
        <p:spPr>
          <a:xfrm>
            <a:off x="8659368" y="3923731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ardglyph-s2"/>
          <p:cNvSpPr txBox="1"/>
          <p:nvPr/>
        </p:nvSpPr>
        <p:spPr>
          <a:xfrm>
            <a:off x="8659368" y="392373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</a:t>
            </a:r>
            <a:endParaRPr lang="en-US" sz="1300" dirty="0"/>
          </a:p>
        </p:txBody>
      </p:sp>
      <p:sp>
        <p:nvSpPr>
          <p:cNvPr id="18" name="cardhead-s2"/>
          <p:cNvSpPr txBox="1"/>
          <p:nvPr/>
        </p:nvSpPr>
        <p:spPr>
          <a:xfrm>
            <a:off x="9134856" y="3905443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Traces</a:t>
            </a:r>
            <a:endParaRPr lang="en-US" sz="1500" dirty="0"/>
          </a:p>
        </p:txBody>
      </p:sp>
      <p:sp>
        <p:nvSpPr>
          <p:cNvPr id="19" name="cardbody-s2"/>
          <p:cNvSpPr txBox="1"/>
          <p:nvPr/>
        </p:nvSpPr>
        <p:spPr>
          <a:xfrm>
            <a:off x="8659368" y="4417507"/>
            <a:ext cx="2779776" cy="2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A span per simulated session</a:t>
            </a:r>
            <a:endParaRPr lang="en-US" sz="1300" dirty="0"/>
          </a:p>
        </p:txBody>
      </p:sp>
      <p:sp>
        <p:nvSpPr>
          <p:cNvPr id="20" name="card-s3"/>
          <p:cNvSpPr/>
          <p:nvPr/>
        </p:nvSpPr>
        <p:spPr>
          <a:xfrm>
            <a:off x="8458200" y="5035205"/>
            <a:ext cx="3182112" cy="1111474"/>
          </a:xfrm>
          <a:prstGeom prst="roundRect">
            <a:avLst>
              <a:gd name="adj" fmla="val 6582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21" name="carddot-s3"/>
          <p:cNvSpPr/>
          <p:nvPr/>
        </p:nvSpPr>
        <p:spPr>
          <a:xfrm>
            <a:off x="8659368" y="523637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cardglyph-s3"/>
          <p:cNvSpPr txBox="1"/>
          <p:nvPr/>
        </p:nvSpPr>
        <p:spPr>
          <a:xfrm>
            <a:off x="8659368" y="5236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</a:t>
            </a:r>
            <a:endParaRPr lang="en-US" sz="1300" dirty="0"/>
          </a:p>
        </p:txBody>
      </p:sp>
      <p:sp>
        <p:nvSpPr>
          <p:cNvPr id="23" name="cardhead-s3"/>
          <p:cNvSpPr txBox="1"/>
          <p:nvPr/>
        </p:nvSpPr>
        <p:spPr>
          <a:xfrm>
            <a:off x="9134856" y="5218085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Sessions</a:t>
            </a:r>
            <a:endParaRPr lang="en-US" sz="1500" dirty="0"/>
          </a:p>
        </p:txBody>
      </p:sp>
      <p:sp>
        <p:nvSpPr>
          <p:cNvPr id="24" name="cardbody-s3"/>
          <p:cNvSpPr txBox="1"/>
          <p:nvPr/>
        </p:nvSpPr>
        <p:spPr>
          <a:xfrm>
            <a:off x="8659368" y="5730149"/>
            <a:ext cx="2779776" cy="2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chemeClr val="bg2"/>
                </a:solidFill>
              </a:rPr>
              <a:t>Replay of the broken screen</a:t>
            </a:r>
            <a:endParaRPr lang="en-US" sz="1300" dirty="0"/>
          </a:p>
        </p:txBody>
      </p:sp>
      <p:sp>
        <p:nvSpPr>
          <p:cNvPr id="25" name="caption"/>
          <p:cNvSpPr txBox="1"/>
          <p:nvPr/>
        </p:nvSpPr>
        <p:spPr>
          <a:xfrm>
            <a:off x="566928" y="5624017"/>
            <a:ext cx="7726680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One attribute bag, set once and reused, is what lets you slice errors, logs and traces by the flag that caused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failure in the demo is a real exception</a:t>
            </a:r>
            <a:endParaRPr lang="en-US" sz="3200" dirty="0"/>
          </a:p>
        </p:txBody>
      </p:sp>
      <p:sp>
        <p:nvSpPr>
          <p:cNvPr id="3" name="panel-fault"/>
          <p:cNvSpPr/>
          <p:nvPr/>
        </p:nvSpPr>
        <p:spPr>
          <a:xfrm>
            <a:off x="548640" y="1097280"/>
            <a:ext cx="7726680" cy="4257421"/>
          </a:xfrm>
          <a:prstGeom prst="roundRect">
            <a:avLst>
              <a:gd name="adj" fmla="val 1503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fault"/>
          <p:cNvSpPr txBox="1"/>
          <p:nvPr/>
        </p:nvSpPr>
        <p:spPr>
          <a:xfrm>
            <a:off x="704088" y="1229411"/>
            <a:ext cx="7415784" cy="399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app/demo.html - the fault this demo is about. On the affected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cohort the dark palette never loads, and building the holdings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table throws for real.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buildHoldings(dark)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buggyKey = shape ===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'optiona'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CFG.buggyCohort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: CFG.buggyRegion;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(dark &amp;&amp; cohort === buggyKey)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palette =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HOLDINGS.map((h) =&gt;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'&lt;div class="hrow"&gt;'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palette.rowClass +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'&lt;/div&gt;'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).join(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caught at the render boundary, reported with the flag value on it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LDObserve.recordError(err,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'Portfolio screen failed to render'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attrs(dark, {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'app.render_failed'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client.track(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'render-error'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</a:t>
            </a:r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guardrail metric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card-err"/>
          <p:cNvSpPr/>
          <p:nvPr/>
        </p:nvSpPr>
        <p:spPr>
          <a:xfrm>
            <a:off x="8458200" y="1097280"/>
            <a:ext cx="3182112" cy="2048256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errhead"/>
          <p:cNvSpPr txBox="1"/>
          <p:nvPr/>
        </p:nvSpPr>
        <p:spPr>
          <a:xfrm>
            <a:off x="8659368" y="12801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5"/>
                </a:solidFill>
              </a:rPr>
              <a:t>Uncaught in Monitoring</a:t>
            </a:r>
            <a:endParaRPr lang="en-US" sz="1450" dirty="0"/>
          </a:p>
        </p:txBody>
      </p:sp>
      <p:sp>
        <p:nvSpPr>
          <p:cNvPr id="7" name="errtext"/>
          <p:cNvSpPr txBox="1"/>
          <p:nvPr/>
        </p:nvSpPr>
        <p:spPr>
          <a:xfrm>
            <a:off x="8659368" y="1627632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Cannot read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of null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(reading 'rowClass')</a:t>
            </a:r>
            <a:endParaRPr lang="en-US" sz="1150" dirty="0"/>
          </a:p>
        </p:txBody>
      </p:sp>
      <p:sp>
        <p:nvSpPr>
          <p:cNvPr id="8" name="errmeta"/>
          <p:cNvSpPr txBox="1"/>
          <p:nvPr/>
        </p:nvSpPr>
        <p:spPr>
          <a:xfrm>
            <a:off x="8659368" y="2505456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chemeClr val="accent6"/>
                </a:solidFill>
              </a:rPr>
              <a:t>Z-Trader · portfolio · dark_mode=true</a:t>
            </a:r>
            <a:endParaRPr lang="en-US" sz="1250" dirty="0"/>
          </a:p>
        </p:txBody>
      </p:sp>
      <p:sp>
        <p:nvSpPr>
          <p:cNvPr id="9" name="card-guard"/>
          <p:cNvSpPr/>
          <p:nvPr/>
        </p:nvSpPr>
        <p:spPr>
          <a:xfrm>
            <a:off x="8458200" y="3364992"/>
            <a:ext cx="3182112" cy="1737939"/>
          </a:xfrm>
          <a:prstGeom prst="roundRect">
            <a:avLst>
              <a:gd name="adj" fmla="val 4209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0" name="carddot-guard"/>
          <p:cNvSpPr/>
          <p:nvPr/>
        </p:nvSpPr>
        <p:spPr>
          <a:xfrm>
            <a:off x="8659368" y="35661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cardglyph-guard"/>
          <p:cNvSpPr txBox="1"/>
          <p:nvPr/>
        </p:nvSpPr>
        <p:spPr>
          <a:xfrm>
            <a:off x="865936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</a:t>
            </a:r>
            <a:endParaRPr lang="en-US" sz="1300" dirty="0"/>
          </a:p>
        </p:txBody>
      </p:sp>
      <p:sp>
        <p:nvSpPr>
          <p:cNvPr id="12" name="cardhead-guard"/>
          <p:cNvSpPr txBox="1"/>
          <p:nvPr/>
        </p:nvSpPr>
        <p:spPr>
          <a:xfrm>
            <a:off x="9134856" y="3547872"/>
            <a:ext cx="2304288" cy="53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Then the guardrail fires</a:t>
            </a:r>
            <a:endParaRPr lang="en-US" sz="1500" dirty="0"/>
          </a:p>
        </p:txBody>
      </p:sp>
      <p:sp>
        <p:nvSpPr>
          <p:cNvPr id="13" name="cardbody-guard"/>
          <p:cNvSpPr txBox="1"/>
          <p:nvPr/>
        </p:nvSpPr>
        <p:spPr>
          <a:xfrm>
            <a:off x="8659368" y="4192143"/>
            <a:ext cx="2779776" cy="727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chemeClr val="bg2"/>
                </a:solidFill>
              </a:rPr>
              <a:t>render-error crosses its threshold and the phase reverts. The next render is light. No deploy.</a:t>
            </a:r>
            <a:endParaRPr lang="en-US" sz="1350" dirty="0"/>
          </a:p>
        </p:txBody>
      </p:sp>
      <p:sp>
        <p:nvSpPr>
          <p:cNvPr id="14" name="caption"/>
          <p:cNvSpPr txBox="1"/>
          <p:nvPr/>
        </p:nvSpPr>
        <p:spPr>
          <a:xfrm>
            <a:off x="566928" y="5592445"/>
            <a:ext cx="7726680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Nothing is faked for the demo: the palette really is missing, the table really does throw, and the rollback is the product reacting 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Experiments: the same call, a different question</a:t>
            </a:r>
            <a:endParaRPr lang="en-US" sz="3200" dirty="0"/>
          </a:p>
        </p:txBody>
      </p:sp>
      <p:sp>
        <p:nvSpPr>
          <p:cNvPr id="3" name="panel-expapp"/>
          <p:cNvSpPr/>
          <p:nvPr/>
        </p:nvSpPr>
        <p:spPr>
          <a:xfrm>
            <a:off x="548640" y="1097280"/>
            <a:ext cx="7452360" cy="2307838"/>
          </a:xfrm>
          <a:prstGeom prst="roundRect">
            <a:avLst>
              <a:gd name="adj" fmla="val 2774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code-expapp"/>
          <p:cNvSpPr txBox="1"/>
          <p:nvPr/>
        </p:nvSpPr>
        <p:spPr>
          <a:xfrm>
            <a:off x="704088" y="1229411"/>
            <a:ext cx="7141464" cy="204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app/simulator.js - an experiment flag reads like any other flag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quotes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'static'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(family.id ===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'optiona'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             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device-capability test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quotes    =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client.variation(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'quote-experience'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ctx,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'static'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qePenalty = cfg.qeLoad[quotes][group] ||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costs iOS 16 dearly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loadMs = Math.round(cfg.baselineLoadMs + jitter + qePenalty);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client.track(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'screen-load-ms'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ctx,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loadMs);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pnl =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client.variation(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'pnl-display'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ctx,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'percent'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(Math.random() &lt; tapRateFor(pnl)) client.track(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'holding-tapped'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5" name="panel-expmetric"/>
          <p:cNvSpPr/>
          <p:nvPr/>
        </p:nvSpPr>
        <p:spPr>
          <a:xfrm>
            <a:off x="548640" y="3624574"/>
            <a:ext cx="7452360" cy="1763217"/>
          </a:xfrm>
          <a:prstGeom prst="roundRect">
            <a:avLst>
              <a:gd name="adj" fmla="val 3630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code-expmetric"/>
          <p:cNvSpPr txBox="1"/>
          <p:nvPr/>
        </p:nvSpPr>
        <p:spPr>
          <a:xfrm>
            <a:off x="704088" y="3756704"/>
            <a:ext cx="7141464" cy="1498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launchdarkly/metrics.tf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"launchdarkly_metric"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"order_placed"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               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"order-placed"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kind               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event_key          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"order-placed"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success_criteria    =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"HigherThanBaseline"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randomization_units = [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"device"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unit as the rollout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card-x1"/>
          <p:cNvSpPr/>
          <p:nvPr/>
        </p:nvSpPr>
        <p:spPr>
          <a:xfrm>
            <a:off x="8183880" y="1097280"/>
            <a:ext cx="3456432" cy="1363096"/>
          </a:xfrm>
          <a:prstGeom prst="roundRect">
            <a:avLst>
              <a:gd name="adj" fmla="val 536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8" name="carddot-x1"/>
          <p:cNvSpPr/>
          <p:nvPr/>
        </p:nvSpPr>
        <p:spPr>
          <a:xfrm>
            <a:off x="8385048" y="12984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cardglyph-x1"/>
          <p:cNvSpPr txBox="1"/>
          <p:nvPr/>
        </p:nvSpPr>
        <p:spPr>
          <a:xfrm>
            <a:off x="838504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</a:t>
            </a:r>
            <a:endParaRPr lang="en-US" sz="1300" dirty="0"/>
          </a:p>
        </p:txBody>
      </p:sp>
      <p:sp>
        <p:nvSpPr>
          <p:cNvPr id="10" name="cardhead-x1"/>
          <p:cNvSpPr txBox="1"/>
          <p:nvPr/>
        </p:nvSpPr>
        <p:spPr>
          <a:xfrm>
            <a:off x="8860536" y="12801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quote-experience</a:t>
            </a:r>
            <a:endParaRPr lang="en-US" sz="1500" dirty="0"/>
          </a:p>
        </p:txBody>
      </p:sp>
      <p:sp>
        <p:nvSpPr>
          <p:cNvPr id="11" name="cardbody-x1"/>
          <p:cNvSpPr txBox="1"/>
          <p:nvPr/>
        </p:nvSpPr>
        <p:spPr>
          <a:xfrm>
            <a:off x="8385048" y="1792224"/>
            <a:ext cx="3054096" cy="48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chemeClr val="bg2"/>
                </a:solidFill>
              </a:rPr>
              <a:t>static | polled | live, randomized by device and sliced by app.cohort.</a:t>
            </a:r>
            <a:endParaRPr lang="en-US" sz="1350" dirty="0"/>
          </a:p>
        </p:txBody>
      </p:sp>
      <p:sp>
        <p:nvSpPr>
          <p:cNvPr id="12" name="card-x2"/>
          <p:cNvSpPr/>
          <p:nvPr/>
        </p:nvSpPr>
        <p:spPr>
          <a:xfrm>
            <a:off x="8183880" y="2679832"/>
            <a:ext cx="3456432" cy="1363096"/>
          </a:xfrm>
          <a:prstGeom prst="roundRect">
            <a:avLst>
              <a:gd name="adj" fmla="val 536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3" name="carddot-x2"/>
          <p:cNvSpPr/>
          <p:nvPr/>
        </p:nvSpPr>
        <p:spPr>
          <a:xfrm>
            <a:off x="8385048" y="28810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cardglyph-x2"/>
          <p:cNvSpPr txBox="1"/>
          <p:nvPr/>
        </p:nvSpPr>
        <p:spPr>
          <a:xfrm>
            <a:off x="8385048" y="2881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</a:t>
            </a:r>
            <a:endParaRPr lang="en-US" sz="1300" dirty="0"/>
          </a:p>
        </p:txBody>
      </p:sp>
      <p:sp>
        <p:nvSpPr>
          <p:cNvPr id="15" name="cardhead-x2"/>
          <p:cNvSpPr txBox="1"/>
          <p:nvPr/>
        </p:nvSpPr>
        <p:spPr>
          <a:xfrm>
            <a:off x="8860536" y="28627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pnl-display</a:t>
            </a:r>
            <a:endParaRPr lang="en-US" sz="1500" dirty="0"/>
          </a:p>
        </p:txBody>
      </p:sp>
      <p:sp>
        <p:nvSpPr>
          <p:cNvPr id="16" name="cardbody-x2"/>
          <p:cNvSpPr txBox="1"/>
          <p:nvPr/>
        </p:nvSpPr>
        <p:spPr>
          <a:xfrm>
            <a:off x="8385048" y="3374776"/>
            <a:ext cx="3054096" cy="48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chemeClr val="bg2"/>
                </a:solidFill>
              </a:rPr>
              <a:t>Percent vs rupees, measured on holding-tapped. A plain A/B.</a:t>
            </a:r>
            <a:endParaRPr lang="en-US" sz="1350" dirty="0"/>
          </a:p>
        </p:txBody>
      </p:sp>
      <p:sp>
        <p:nvSpPr>
          <p:cNvPr id="17" name="card-x3"/>
          <p:cNvSpPr/>
          <p:nvPr/>
        </p:nvSpPr>
        <p:spPr>
          <a:xfrm>
            <a:off x="8183880" y="4262384"/>
            <a:ext cx="3456432" cy="1363096"/>
          </a:xfrm>
          <a:prstGeom prst="roundRect">
            <a:avLst>
              <a:gd name="adj" fmla="val 5367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18" name="carddot-x3"/>
          <p:cNvSpPr/>
          <p:nvPr/>
        </p:nvSpPr>
        <p:spPr>
          <a:xfrm>
            <a:off x="8385048" y="446355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cardglyph-x3"/>
          <p:cNvSpPr txBox="1"/>
          <p:nvPr/>
        </p:nvSpPr>
        <p:spPr>
          <a:xfrm>
            <a:off x="8385048" y="446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</a:t>
            </a:r>
            <a:endParaRPr lang="en-US" sz="1300" dirty="0"/>
          </a:p>
        </p:txBody>
      </p:sp>
      <p:sp>
        <p:nvSpPr>
          <p:cNvPr id="20" name="cardhead-x3"/>
          <p:cNvSpPr txBox="1"/>
          <p:nvPr/>
        </p:nvSpPr>
        <p:spPr>
          <a:xfrm>
            <a:off x="8860536" y="444526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Same segments, reused</a:t>
            </a:r>
            <a:endParaRPr lang="en-US" sz="1500" dirty="0"/>
          </a:p>
        </p:txBody>
      </p:sp>
      <p:sp>
        <p:nvSpPr>
          <p:cNvPr id="21" name="cardbody-x3"/>
          <p:cNvSpPr txBox="1"/>
          <p:nvPr/>
        </p:nvSpPr>
        <p:spPr>
          <a:xfrm>
            <a:off x="8385048" y="4957328"/>
            <a:ext cx="3054096" cy="48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chemeClr val="bg2"/>
                </a:solidFill>
              </a:rPr>
              <a:t>The audience is the same ios-17 / ios-18-plus segments.</a:t>
            </a:r>
            <a:endParaRPr lang="en-US" sz="1350" dirty="0"/>
          </a:p>
        </p:txBody>
      </p:sp>
      <p:sp>
        <p:nvSpPr>
          <p:cNvPr id="22" name="caption"/>
          <p:cNvSpPr txBox="1"/>
          <p:nvPr/>
        </p:nvSpPr>
        <p:spPr>
          <a:xfrm>
            <a:off x="566928" y="5625535"/>
            <a:ext cx="7452360" cy="50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i="1" dirty="0">
                <a:solidFill>
                  <a:schemeClr val="accent6"/>
                </a:solidFill>
              </a:rPr>
              <a:t>The randomization unit is device — the same unit the rollout uses — so release results and experiment results are directly comparable.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app never has to know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234440"/>
            <a:ext cx="3538728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4" name="stat-text-0"/>
          <p:cNvSpPr txBox="1"/>
          <p:nvPr/>
        </p:nvSpPr>
        <p:spPr>
          <a:xfrm>
            <a:off x="777240" y="1444752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chemeClr val="accent3"/>
                </a:solidFill>
              </a:rPr>
              <a:t>1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flag read in the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product code</a:t>
            </a:r>
            <a:endParaRPr lang="en-US" sz="6800" dirty="0"/>
          </a:p>
        </p:txBody>
      </p:sp>
      <p:sp>
        <p:nvSpPr>
          <p:cNvPr id="5" name="stat-1"/>
          <p:cNvSpPr/>
          <p:nvPr/>
        </p:nvSpPr>
        <p:spPr>
          <a:xfrm>
            <a:off x="4325112" y="1234440"/>
            <a:ext cx="3538728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6" name="stat-text-1"/>
          <p:cNvSpPr txBox="1"/>
          <p:nvPr/>
        </p:nvSpPr>
        <p:spPr>
          <a:xfrm>
            <a:off x="4553712" y="1444752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chemeClr val="accent1"/>
                </a:solidFill>
              </a:rPr>
              <a:t>6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reusable audiences, shared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by releases, experiments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and monitoring</a:t>
            </a:r>
            <a:endParaRPr lang="en-US" sz="6800" dirty="0"/>
          </a:p>
        </p:txBody>
      </p:sp>
      <p:sp>
        <p:nvSpPr>
          <p:cNvPr id="7" name="stat-2"/>
          <p:cNvSpPr/>
          <p:nvPr/>
        </p:nvSpPr>
        <p:spPr>
          <a:xfrm>
            <a:off x="8101584" y="1234440"/>
            <a:ext cx="3538728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9525">
            <a:solidFill>
              <a:srgbClr val="2A3252"/>
            </a:solidFill>
            <a:prstDash val="solid"/>
          </a:ln>
        </p:spPr>
      </p:sp>
      <p:sp>
        <p:nvSpPr>
          <p:cNvPr id="8" name="stat-text-2"/>
          <p:cNvSpPr txBox="1"/>
          <p:nvPr/>
        </p:nvSpPr>
        <p:spPr>
          <a:xfrm>
            <a:off x="8330184" y="1444752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chemeClr val="accent4"/>
                </a:solidFill>
              </a:rPr>
              <a:t>0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lines that branch on city,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OS version or device</a:t>
            </a:r>
            <a:endParaRPr lang="en-US" sz="6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model</a:t>
            </a:r>
            <a:endParaRPr lang="en-US" sz="6800" dirty="0"/>
          </a:p>
        </p:txBody>
      </p:sp>
      <p:sp>
        <p:nvSpPr>
          <p:cNvPr id="9" name="closing"/>
          <p:cNvSpPr txBox="1"/>
          <p:nvPr/>
        </p:nvSpPr>
        <p:spPr>
          <a:xfrm>
            <a:off x="548640" y="39502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chemeClr val="bg1"/>
                </a:solidFill>
              </a:rPr>
              <a:t>The app sends facts. </a:t>
            </a:r>
            <a:pPr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chemeClr val="bg2"/>
                </a:solidFill>
              </a:rPr>
              <a:t>LaunchDarkly decides who sees the feature, watches what it does to them, takes it back when it hurts, and measures what it was worth — all without a build.</a:t>
            </a:r>
            <a:endParaRPr lang="en-US" sz="1900" dirty="0"/>
          </a:p>
        </p:txBody>
      </p:sp>
      <p:sp>
        <p:nvSpPr>
          <p:cNvPr id="10" name="repo"/>
          <p:cNvSpPr txBox="1"/>
          <p:nvPr/>
        </p:nvSpPr>
        <p:spPr>
          <a:xfrm>
            <a:off x="548640" y="510235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app/simulator.js  ·  app/demo.html  ·  launchdarkly/*.tf  ·  runbook.md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9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-Trader Dark">
  <a:themeElements>
    <a:clrScheme name="Z-Trader Dark">
      <a:dk1>
        <a:srgbClr val="0C0E18"/>
      </a:dk1>
      <a:lt1>
        <a:srgbClr val="FFFFFF"/>
      </a:lt1>
      <a:dk2>
        <a:srgbClr val="191D30"/>
      </a:dk2>
      <a:lt2>
        <a:srgbClr val="DCE1F2"/>
      </a:lt2>
      <a:accent1>
        <a:srgbClr val="7D8CFF"/>
      </a:accent1>
      <a:accent2>
        <a:srgbClr val="C06CF5"/>
      </a:accent2>
      <a:accent3>
        <a:srgbClr val="D8F24E"/>
      </a:accent3>
      <a:accent4>
        <a:srgbClr val="4ED9A4"/>
      </a:accent4>
      <a:accent5>
        <a:srgbClr val="FF6B6B"/>
      </a:accent5>
      <a:accent6>
        <a:srgbClr val="8E97B8"/>
      </a:accent6>
      <a:hlink>
        <a:srgbClr val="7D8CFF"/>
      </a:hlink>
      <a:folHlink>
        <a:srgbClr val="C06CF5"/>
      </a:folHlink>
    </a:clrScheme>
    <a:fontScheme name="Z-Trader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Z-Trader on LaunchDarkly - code samples</dc:title>
  <dc:subject>Dark mode release, contexts and segments, observability, experimentation</dc:subject>
  <dc:creator>Abhishek Hiremath</dc:creator>
  <cp:lastModifiedBy>Abhishek Hiremath</cp:lastModifiedBy>
  <cp:revision>1</cp:revision>
  <dcterms:created xsi:type="dcterms:W3CDTF">2026-10-06T06:15:02Z</dcterms:created>
  <dcterms:modified xsi:type="dcterms:W3CDTF">2026-10-06T06:15:02Z</dcterms:modified>
</cp:coreProperties>
</file>